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dPt>
            <c:idx val="0"/>
            <c:spPr>
              <a:solidFill>
                <a:srgbClr val="B8C2CA"/>
              </a:solidFill>
            </c:spPr>
          </c:dPt>
          <c:dPt>
            <c:idx val="1"/>
            <c:spPr>
              <a:solidFill>
                <a:srgbClr val="B8C2CA"/>
              </a:solidFill>
            </c:spPr>
          </c:dPt>
          <c:dPt>
            <c:idx val="2"/>
            <c:spPr>
              <a:solidFill>
                <a:srgbClr val="1F3A4D"/>
              </a:solidFill>
            </c:spPr>
          </c:dPt>
          <c:dPt>
            <c:idx val="3"/>
            <c:spPr>
              <a:solidFill>
                <a:srgbClr val="1F3A4D"/>
              </a:solidFill>
            </c:spPr>
          </c:dPt>
          <c:dPt>
            <c:idx val="4"/>
            <c:spPr>
              <a:solidFill>
                <a:srgbClr val="1F3A4D"/>
              </a:solidFill>
            </c:spPr>
          </c:dPt>
          <c:dPt>
            <c:idx val="5"/>
            <c:spPr>
              <a:solidFill>
                <a:srgbClr val="1F3A4D"/>
              </a:solidFill>
            </c:spPr>
          </c:dPt>
          <c:cat>
            <c:strRef>
              <c:f>Sheet1!$A$2:$A$7</c:f>
              <c:strCache>
                <c:ptCount val="6"/>
                <c:pt idx="0">
                  <c:v>Naive Bayes</c:v>
                </c:pt>
                <c:pt idx="1">
                  <c:v>Logistic reg.</c:v>
                </c:pt>
                <c:pt idx="2">
                  <c:v>KNN</c:v>
                </c:pt>
                <c:pt idx="3">
                  <c:v>XGBoost</c:v>
                </c:pt>
                <c:pt idx="4">
                  <c:v>LightGBM</c:v>
                </c:pt>
                <c:pt idx="5">
                  <c:v>Random forest</c:v>
                </c:pt>
              </c:strCache>
            </c:strRef>
          </c:cat>
          <c:val>
            <c:numRef>
              <c:f>Sheet1!$B$2:$B$7</c:f>
              <c:numCache>
                <c:formatCode>General</c:formatCode>
                <c:ptCount val="6"/>
                <c:pt idx="0">
                  <c:v>0.66</c:v>
                </c:pt>
                <c:pt idx="1">
                  <c:v>0.685</c:v>
                </c:pt>
                <c:pt idx="2">
                  <c:v>0.723</c:v>
                </c:pt>
                <c:pt idx="3">
                  <c:v>0.724</c:v>
                </c:pt>
                <c:pt idx="4">
                  <c:v>0.74</c:v>
                </c:pt>
                <c:pt idx="5">
                  <c:v>0.745</c:v>
                </c:pt>
              </c:numCache>
            </c:numRef>
          </c:val>
        </c:ser>
        <c:dLbls>
          <c:numFmt formatCode="0.000" sourceLinked="0"/>
          <c:txPr>
            <a:bodyPr/>
            <a:lstStyle/>
            <a:p>
              <a:pPr>
                <a:defRPr sz="1300" b="1">
                  <a:solidFill>
                    <a:srgbClr val="1F3A4D"/>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C8D0D6"/>
            </a:solidFill>
          </a:ln>
        </c:spPr>
        <c:txPr>
          <a:bodyPr/>
          <a:lstStyle/>
          <a:p>
            <a:pPr>
              <a:defRPr sz="1300">
                <a:solidFill>
                  <a:srgbClr val="1F3A4D"/>
                </a:solidFill>
                <a:latin typeface="Calibri"/>
              </a:defRPr>
            </a:pPr>
          </a:p>
        </c:txPr>
        <c:crossAx val="-2113994440"/>
        <c:crosses val="autoZero"/>
        <c:auto val="1"/>
        <c:lblAlgn val="ctr"/>
        <c:lblOffset val="100"/>
        <c:noMultiLvlLbl val="0"/>
      </c:catAx>
      <c:valAx>
        <c:axId val="-2113994440"/>
        <c:scaling>
          <c:max val="0.9"/>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dPt>
            <c:idx val="0"/>
            <c:spPr>
              <a:solidFill>
                <a:srgbClr val="1F3A4D"/>
              </a:solidFill>
            </c:spPr>
          </c:dPt>
          <c:dPt>
            <c:idx val="1"/>
            <c:spPr>
              <a:solidFill>
                <a:srgbClr val="1F3A4D"/>
              </a:solidFill>
            </c:spPr>
          </c:dPt>
          <c:dPt>
            <c:idx val="2"/>
            <c:spPr>
              <a:solidFill>
                <a:srgbClr val="1F3A4D"/>
              </a:solidFill>
            </c:spPr>
          </c:dPt>
          <c:dPt>
            <c:idx val="3"/>
            <c:spPr>
              <a:solidFill>
                <a:srgbClr val="D96C4F"/>
              </a:solidFill>
            </c:spPr>
          </c:dPt>
          <c:cat>
            <c:strRef>
              <c:f>Sheet1!$A$2:$A$5</c:f>
              <c:strCache>
                <c:ptCount val="4"/>
                <c:pt idx="0">
                  <c:v>LightGBM</c:v>
                </c:pt>
                <c:pt idx="1">
                  <c:v>Random forest</c:v>
                </c:pt>
                <c:pt idx="2">
                  <c:v>KNN</c:v>
                </c:pt>
                <c:pt idx="3">
                  <c:v>XGBoost</c:v>
                </c:pt>
              </c:strCache>
            </c:strRef>
          </c:cat>
          <c:val>
            <c:numRef>
              <c:f>Sheet1!$B$2:$B$5</c:f>
              <c:numCache>
                <c:formatCode>General</c:formatCode>
                <c:ptCount val="4"/>
                <c:pt idx="0">
                  <c:v>0.006</c:v>
                </c:pt>
                <c:pt idx="1">
                  <c:v>0.007</c:v>
                </c:pt>
                <c:pt idx="2">
                  <c:v>0.015</c:v>
                </c:pt>
                <c:pt idx="3">
                  <c:v>0.033</c:v>
                </c:pt>
              </c:numCache>
            </c:numRef>
          </c:val>
        </c:ser>
        <c:dLbls>
          <c:numFmt formatCode="+0.000" sourceLinked="0"/>
          <c:txPr>
            <a:bodyPr/>
            <a:lstStyle/>
            <a:p>
              <a:pPr>
                <a:defRPr sz="1300" b="1">
                  <a:solidFill>
                    <a:srgbClr val="1F3A4D"/>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C8D0D6"/>
            </a:solidFill>
          </a:ln>
        </c:spPr>
        <c:txPr>
          <a:bodyPr/>
          <a:lstStyle/>
          <a:p>
            <a:pPr>
              <a:defRPr sz="1300">
                <a:solidFill>
                  <a:srgbClr val="1F3A4D"/>
                </a:solidFill>
                <a:latin typeface="Calibri"/>
              </a:defRPr>
            </a:pPr>
          </a:p>
        </c:txPr>
        <c:crossAx val="-2113994440"/>
        <c:crosses val="autoZero"/>
        <c:auto val="1"/>
        <c:lblAlgn val="ctr"/>
        <c:lblOffset val="100"/>
        <c:noMultiLvlLbl val="0"/>
      </c:catAx>
      <c:valAx>
        <c:axId val="-2113994440"/>
        <c:scaling>
          <c:max val="0.042"/>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dPt>
            <c:idx val="0"/>
            <c:spPr>
              <a:solidFill>
                <a:srgbClr val="B8C2CA"/>
              </a:solidFill>
            </c:spPr>
          </c:dPt>
          <c:dPt>
            <c:idx val="1"/>
            <c:spPr>
              <a:solidFill>
                <a:srgbClr val="B8C2CA"/>
              </a:solidFill>
            </c:spPr>
          </c:dPt>
          <c:dPt>
            <c:idx val="2"/>
            <c:spPr>
              <a:solidFill>
                <a:srgbClr val="D96C4F"/>
              </a:solidFill>
            </c:spPr>
          </c:dPt>
          <c:cat>
            <c:strRef>
              <c:f>Sheet1!$A$2:$A$4</c:f>
              <c:strCache>
                <c:ptCount val="3"/>
                <c:pt idx="0">
                  <c:v>Random ranking</c:v>
                </c:pt>
                <c:pt idx="1">
                  <c:v>Rule: rank by PageValues</c:v>
                </c:pt>
                <c:pt idx="2">
                  <c:v>Final model</c:v>
                </c:pt>
              </c:strCache>
            </c:strRef>
          </c:cat>
          <c:val>
            <c:numRef>
              <c:f>Sheet1!$B$2:$B$4</c:f>
              <c:numCache>
                <c:formatCode>General</c:formatCode>
                <c:ptCount val="3"/>
                <c:pt idx="0">
                  <c:v>0.156</c:v>
                </c:pt>
                <c:pt idx="1">
                  <c:v>0.622</c:v>
                </c:pt>
                <c:pt idx="2">
                  <c:v>0.763</c:v>
                </c:pt>
              </c:numCache>
            </c:numRef>
          </c:val>
        </c:ser>
        <c:dLbls>
          <c:numFmt formatCode="0.000" sourceLinked="0"/>
          <c:txPr>
            <a:bodyPr/>
            <a:lstStyle/>
            <a:p>
              <a:pPr>
                <a:defRPr sz="1500" b="1">
                  <a:solidFill>
                    <a:srgbClr val="1F3A4D"/>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C8D0D6"/>
            </a:solidFill>
          </a:ln>
        </c:spPr>
        <c:txPr>
          <a:bodyPr/>
          <a:lstStyle/>
          <a:p>
            <a:pPr>
              <a:defRPr sz="1400">
                <a:solidFill>
                  <a:srgbClr val="1F3A4D"/>
                </a:solidFill>
                <a:latin typeface="Calibri"/>
              </a:defRPr>
            </a:pPr>
          </a:p>
        </c:txPr>
        <c:crossAx val="-2113994440"/>
        <c:crosses val="autoZero"/>
        <c:auto val="1"/>
        <c:lblAlgn val="ctr"/>
        <c:lblOffset val="100"/>
        <c:noMultiLvlLbl val="0"/>
      </c:catAx>
      <c:valAx>
        <c:axId val="-2113994440"/>
        <c:scaling>
          <c:max val="0.9"/>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models were compared in one leak-free pipeline; the four strongest, whose errors also differ, were shortlisted. Each was tuned by random search, treating data transformations as hyperparameters. XGBoost gained most because its defaults overfit after about 10 trees. All candidates, including averaging and stacking ensembles, were then re-scored on 15 CV folds not used for tuning. Stacking all four had the highest AP (0.757), only slightly above averaging and tuned XGBoost.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stacking model was refit on all 9,764 training sessions and evaluated once on 2,441 test sessions. Test AP is 0.763 (95% CI 0.72-0.80), close to the CV estimate of 0.757, against 0.622 for simply ranking sessions by PageValues. At the threshold of 0.36, fixed on training data, it finds 70% of buyers with 69% precision and makes 123 false alarms instead of 233. Caveat: without PageValues, AP falls to 0.38, and PageValues may partly leak the outcome.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640080"/>
          </a:xfrm>
          <a:prstGeom prst="rect">
            <a:avLst/>
          </a:prstGeom>
          <a:noFill/>
        </p:spPr>
        <p:txBody>
          <a:bodyPr wrap="square" lIns="0" rIns="0" tIns="0" bIns="0" anchor="t">
            <a:spAutoFit/>
          </a:bodyPr>
          <a:lstStyle/>
          <a:p>
            <a:pPr algn="l"/>
            <a:r>
              <a:rPr b="1" sz="3200">
                <a:solidFill>
                  <a:srgbClr val="1F3A4D"/>
                </a:solidFill>
                <a:latin typeface="Calibri"/>
              </a:rPr>
              <a:t>Model Selection &amp; Fine-Tuning</a:t>
            </a:r>
          </a:p>
        </p:txBody>
      </p:sp>
      <p:sp>
        <p:nvSpPr>
          <p:cNvPr id="3" name="Subtitle"/>
          <p:cNvSpPr txBox="1"/>
          <p:nvPr/>
        </p:nvSpPr>
        <p:spPr>
          <a:xfrm>
            <a:off x="548640" y="1005840"/>
            <a:ext cx="11064240" cy="365760"/>
          </a:xfrm>
          <a:prstGeom prst="rect">
            <a:avLst/>
          </a:prstGeom>
          <a:noFill/>
        </p:spPr>
        <p:txBody>
          <a:bodyPr wrap="square" lIns="0" rIns="0" tIns="0" bIns="0" anchor="t">
            <a:spAutoFit/>
          </a:bodyPr>
          <a:lstStyle/>
          <a:p>
            <a:pPr algn="l"/>
            <a:r>
              <a:rPr b="0" sz="1500">
                <a:solidFill>
                  <a:srgbClr val="5F6B75"/>
                </a:solidFill>
                <a:latin typeface="Calibri"/>
              </a:rPr>
              <a:t>Compare 6 models  →  tune the best 4  →  pick the final model on 15 CV folds not used for tuning</a:t>
            </a:r>
          </a:p>
        </p:txBody>
      </p:sp>
      <p:sp>
        <p:nvSpPr>
          <p:cNvPr id="4" name="Step 1 marker"/>
          <p:cNvSpPr/>
          <p:nvPr/>
        </p:nvSpPr>
        <p:spPr>
          <a:xfrm>
            <a:off x="548640" y="1691640"/>
            <a:ext cx="365760" cy="365760"/>
          </a:xfrm>
          <a:prstGeom prst="ellipse">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5" name="Step 1 title"/>
          <p:cNvSpPr txBox="1"/>
          <p:nvPr/>
        </p:nvSpPr>
        <p:spPr>
          <a:xfrm>
            <a:off x="1051560" y="1673352"/>
            <a:ext cx="3108960" cy="411480"/>
          </a:xfrm>
          <a:prstGeom prst="rect">
            <a:avLst/>
          </a:prstGeom>
          <a:noFill/>
        </p:spPr>
        <p:txBody>
          <a:bodyPr wrap="square" lIns="0" rIns="0" tIns="0" bIns="0" anchor="ctr">
            <a:spAutoFit/>
          </a:bodyPr>
          <a:lstStyle/>
          <a:p>
            <a:pPr algn="l"/>
            <a:r>
              <a:rPr b="1" sz="1800">
                <a:solidFill>
                  <a:srgbClr val="1F3A4D"/>
                </a:solidFill>
                <a:latin typeface="Calibri"/>
              </a:rPr>
              <a:t>Compare 6 models</a:t>
            </a:r>
          </a:p>
        </p:txBody>
      </p:sp>
      <p:graphicFrame>
        <p:nvGraphicFramePr>
          <p:cNvPr id="6" name="Comparison chart"/>
          <p:cNvGraphicFramePr>
            <a:graphicFrameLocks noGrp="1"/>
          </p:cNvGraphicFramePr>
          <p:nvPr/>
        </p:nvGraphicFramePr>
        <p:xfrm>
          <a:off x="548640" y="2194560"/>
          <a:ext cx="3520440" cy="3063240"/>
        </p:xfrm>
        <a:graphic>
          <a:graphicData uri="http://schemas.openxmlformats.org/drawingml/2006/chart">
            <c:chart xmlns:c="http://schemas.openxmlformats.org/drawingml/2006/chart" r:id="rId2"/>
          </a:graphicData>
        </a:graphic>
      </p:graphicFrame>
      <p:sp>
        <p:nvSpPr>
          <p:cNvPr id="7" name="Step 1 note"/>
          <p:cNvSpPr txBox="1"/>
          <p:nvPr/>
        </p:nvSpPr>
        <p:spPr>
          <a:xfrm>
            <a:off x="548640" y="5349240"/>
            <a:ext cx="3520440" cy="548640"/>
          </a:xfrm>
          <a:prstGeom prst="rect">
            <a:avLst/>
          </a:prstGeom>
          <a:noFill/>
        </p:spPr>
        <p:txBody>
          <a:bodyPr wrap="square" lIns="0" rIns="0" tIns="0" bIns="0" anchor="t">
            <a:spAutoFit/>
          </a:bodyPr>
          <a:lstStyle/>
          <a:p>
            <a:pPr algn="l"/>
            <a:r>
              <a:rPr b="0" sz="1200">
                <a:solidFill>
                  <a:srgbClr val="5F6B75"/>
                </a:solidFill>
                <a:latin typeface="Calibri"/>
              </a:rPr>
              <a:t>CV average precision, default settings</a:t>
            </a:r>
          </a:p>
          <a:p>
            <a:pPr algn="l"/>
            <a:r>
              <a:rPr b="0" sz="1200">
                <a:solidFill>
                  <a:srgbClr val="5F6B75"/>
                </a:solidFill>
                <a:latin typeface="Calibri"/>
              </a:rPr>
              <a:t>Dark = shortlisted (best AP, different error patterns)</a:t>
            </a:r>
          </a:p>
        </p:txBody>
      </p:sp>
      <p:sp>
        <p:nvSpPr>
          <p:cNvPr id="8" name="Step 2 marker"/>
          <p:cNvSpPr/>
          <p:nvPr/>
        </p:nvSpPr>
        <p:spPr>
          <a:xfrm>
            <a:off x="4315968" y="1691640"/>
            <a:ext cx="365760" cy="365760"/>
          </a:xfrm>
          <a:prstGeom prst="ellipse">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9" name="Step 2 title"/>
          <p:cNvSpPr txBox="1"/>
          <p:nvPr/>
        </p:nvSpPr>
        <p:spPr>
          <a:xfrm>
            <a:off x="4818888" y="1673352"/>
            <a:ext cx="3108960" cy="411480"/>
          </a:xfrm>
          <a:prstGeom prst="rect">
            <a:avLst/>
          </a:prstGeom>
          <a:noFill/>
        </p:spPr>
        <p:txBody>
          <a:bodyPr wrap="square" lIns="0" rIns="0" tIns="0" bIns="0" anchor="ctr">
            <a:spAutoFit/>
          </a:bodyPr>
          <a:lstStyle/>
          <a:p>
            <a:pPr algn="l"/>
            <a:r>
              <a:rPr b="1" sz="1800">
                <a:solidFill>
                  <a:srgbClr val="1F3A4D"/>
                </a:solidFill>
                <a:latin typeface="Calibri"/>
              </a:rPr>
              <a:t>Tune the 4 shortlisted</a:t>
            </a:r>
          </a:p>
        </p:txBody>
      </p:sp>
      <p:graphicFrame>
        <p:nvGraphicFramePr>
          <p:cNvPr id="10" name="Tuning gain chart"/>
          <p:cNvGraphicFramePr>
            <a:graphicFrameLocks noGrp="1"/>
          </p:cNvGraphicFramePr>
          <p:nvPr/>
        </p:nvGraphicFramePr>
        <p:xfrm>
          <a:off x="4315968" y="2194560"/>
          <a:ext cx="3520440" cy="3063240"/>
        </p:xfrm>
        <a:graphic>
          <a:graphicData uri="http://schemas.openxmlformats.org/drawingml/2006/chart">
            <c:chart xmlns:c="http://schemas.openxmlformats.org/drawingml/2006/chart" r:id="rId3"/>
          </a:graphicData>
        </a:graphic>
      </p:graphicFrame>
      <p:sp>
        <p:nvSpPr>
          <p:cNvPr id="11" name="Step 2 note"/>
          <p:cNvSpPr txBox="1"/>
          <p:nvPr/>
        </p:nvSpPr>
        <p:spPr>
          <a:xfrm>
            <a:off x="4315968" y="5349240"/>
            <a:ext cx="3520440" cy="548640"/>
          </a:xfrm>
          <a:prstGeom prst="rect">
            <a:avLst/>
          </a:prstGeom>
          <a:noFill/>
        </p:spPr>
        <p:txBody>
          <a:bodyPr wrap="square" lIns="0" rIns="0" tIns="0" bIns="0" anchor="t">
            <a:spAutoFit/>
          </a:bodyPr>
          <a:lstStyle/>
          <a:p>
            <a:pPr algn="l"/>
            <a:r>
              <a:rPr b="0" sz="1200">
                <a:solidFill>
                  <a:srgbClr val="5F6B75"/>
                </a:solidFill>
                <a:latin typeface="Calibri"/>
              </a:rPr>
              <a:t>Gain in CV AP from random search</a:t>
            </a:r>
          </a:p>
          <a:p>
            <a:pPr algn="l"/>
            <a:r>
              <a:rPr b="0" sz="1200">
                <a:solidFill>
                  <a:srgbClr val="5F6B75"/>
                </a:solidFill>
                <a:latin typeface="Calibri"/>
              </a:rPr>
              <a:t>Best settings: slower learning, larger leaves</a:t>
            </a:r>
          </a:p>
        </p:txBody>
      </p:sp>
      <p:sp>
        <p:nvSpPr>
          <p:cNvPr id="12" name="Step 3 marker"/>
          <p:cNvSpPr/>
          <p:nvPr/>
        </p:nvSpPr>
        <p:spPr>
          <a:xfrm>
            <a:off x="8083296" y="1691640"/>
            <a:ext cx="365760" cy="365760"/>
          </a:xfrm>
          <a:prstGeom prst="ellipse">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3" name="Step 3 title"/>
          <p:cNvSpPr txBox="1"/>
          <p:nvPr/>
        </p:nvSpPr>
        <p:spPr>
          <a:xfrm>
            <a:off x="8586216" y="1673352"/>
            <a:ext cx="3108960" cy="411480"/>
          </a:xfrm>
          <a:prstGeom prst="rect">
            <a:avLst/>
          </a:prstGeom>
          <a:noFill/>
        </p:spPr>
        <p:txBody>
          <a:bodyPr wrap="square" lIns="0" rIns="0" tIns="0" bIns="0" anchor="ctr">
            <a:spAutoFit/>
          </a:bodyPr>
          <a:lstStyle/>
          <a:p>
            <a:pPr algn="l"/>
            <a:r>
              <a:rPr b="1" sz="1800">
                <a:solidFill>
                  <a:srgbClr val="1F3A4D"/>
                </a:solidFill>
                <a:latin typeface="Calibri"/>
              </a:rPr>
              <a:t>Pick the final model</a:t>
            </a:r>
          </a:p>
        </p:txBody>
      </p:sp>
      <p:sp>
        <p:nvSpPr>
          <p:cNvPr id="14" name="Candidate 1"/>
          <p:cNvSpPr/>
          <p:nvPr/>
        </p:nvSpPr>
        <p:spPr>
          <a:xfrm>
            <a:off x="8083296" y="2286000"/>
            <a:ext cx="3520440" cy="502920"/>
          </a:xfrm>
          <a:prstGeom prst="roundRect">
            <a:avLst>
              <a:gd name="adj" fmla="val 8000"/>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ndidate 1 name"/>
          <p:cNvSpPr txBox="1"/>
          <p:nvPr/>
        </p:nvSpPr>
        <p:spPr>
          <a:xfrm>
            <a:off x="8266175" y="2286000"/>
            <a:ext cx="2423160" cy="502920"/>
          </a:xfrm>
          <a:prstGeom prst="rect">
            <a:avLst/>
          </a:prstGeom>
          <a:noFill/>
        </p:spPr>
        <p:txBody>
          <a:bodyPr wrap="square" lIns="0" rIns="0" tIns="0" bIns="0" anchor="ctr">
            <a:spAutoFit/>
          </a:bodyPr>
          <a:lstStyle/>
          <a:p>
            <a:pPr algn="l"/>
            <a:r>
              <a:rPr b="1" sz="1400">
                <a:solidFill>
                  <a:srgbClr val="FFFFFF"/>
                </a:solidFill>
                <a:latin typeface="Calibri"/>
              </a:rPr>
              <a:t>Stacking: all 4</a:t>
            </a:r>
          </a:p>
        </p:txBody>
      </p:sp>
      <p:sp>
        <p:nvSpPr>
          <p:cNvPr id="16" name="Candidate 1 AP"/>
          <p:cNvSpPr txBox="1"/>
          <p:nvPr/>
        </p:nvSpPr>
        <p:spPr>
          <a:xfrm>
            <a:off x="10689336" y="2286000"/>
            <a:ext cx="731520" cy="502920"/>
          </a:xfrm>
          <a:prstGeom prst="rect">
            <a:avLst/>
          </a:prstGeom>
          <a:noFill/>
        </p:spPr>
        <p:txBody>
          <a:bodyPr wrap="square" lIns="0" rIns="0" tIns="0" bIns="0" anchor="ctr">
            <a:spAutoFit/>
          </a:bodyPr>
          <a:lstStyle/>
          <a:p>
            <a:pPr algn="r"/>
            <a:r>
              <a:rPr b="1" sz="1400">
                <a:solidFill>
                  <a:srgbClr val="FFFFFF"/>
                </a:solidFill>
                <a:latin typeface="Calibri"/>
              </a:rPr>
              <a:t>0.757</a:t>
            </a:r>
          </a:p>
        </p:txBody>
      </p:sp>
      <p:sp>
        <p:nvSpPr>
          <p:cNvPr id="17" name="Candidate 2"/>
          <p:cNvSpPr/>
          <p:nvPr/>
        </p:nvSpPr>
        <p:spPr>
          <a:xfrm>
            <a:off x="8083296" y="2898648"/>
            <a:ext cx="3520440" cy="50292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ndidate 2 name"/>
          <p:cNvSpPr txBox="1"/>
          <p:nvPr/>
        </p:nvSpPr>
        <p:spPr>
          <a:xfrm>
            <a:off x="8266175" y="2898648"/>
            <a:ext cx="2423160" cy="502920"/>
          </a:xfrm>
          <a:prstGeom prst="rect">
            <a:avLst/>
          </a:prstGeom>
          <a:noFill/>
        </p:spPr>
        <p:txBody>
          <a:bodyPr wrap="square" lIns="0" rIns="0" tIns="0" bIns="0" anchor="ctr">
            <a:spAutoFit/>
          </a:bodyPr>
          <a:lstStyle/>
          <a:p>
            <a:pPr algn="l"/>
            <a:r>
              <a:rPr b="0" sz="1400">
                <a:solidFill>
                  <a:srgbClr val="1F3A4D"/>
                </a:solidFill>
                <a:latin typeface="Calibri"/>
              </a:rPr>
              <a:t>Averaging: all 4</a:t>
            </a:r>
          </a:p>
        </p:txBody>
      </p:sp>
      <p:sp>
        <p:nvSpPr>
          <p:cNvPr id="19" name="Candidate 2 AP"/>
          <p:cNvSpPr txBox="1"/>
          <p:nvPr/>
        </p:nvSpPr>
        <p:spPr>
          <a:xfrm>
            <a:off x="10689336" y="2898648"/>
            <a:ext cx="731520" cy="502920"/>
          </a:xfrm>
          <a:prstGeom prst="rect">
            <a:avLst/>
          </a:prstGeom>
          <a:noFill/>
        </p:spPr>
        <p:txBody>
          <a:bodyPr wrap="square" lIns="0" rIns="0" tIns="0" bIns="0" anchor="ctr">
            <a:spAutoFit/>
          </a:bodyPr>
          <a:lstStyle/>
          <a:p>
            <a:pPr algn="r"/>
            <a:r>
              <a:rPr b="1" sz="1400">
                <a:solidFill>
                  <a:srgbClr val="1F3A4D"/>
                </a:solidFill>
                <a:latin typeface="Calibri"/>
              </a:rPr>
              <a:t>0.756</a:t>
            </a:r>
          </a:p>
        </p:txBody>
      </p:sp>
      <p:sp>
        <p:nvSpPr>
          <p:cNvPr id="20" name="Candidate 3"/>
          <p:cNvSpPr/>
          <p:nvPr/>
        </p:nvSpPr>
        <p:spPr>
          <a:xfrm>
            <a:off x="8083296" y="3511296"/>
            <a:ext cx="3520440" cy="50292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ndidate 3 name"/>
          <p:cNvSpPr txBox="1"/>
          <p:nvPr/>
        </p:nvSpPr>
        <p:spPr>
          <a:xfrm>
            <a:off x="8266175" y="3511296"/>
            <a:ext cx="2423160" cy="502920"/>
          </a:xfrm>
          <a:prstGeom prst="rect">
            <a:avLst/>
          </a:prstGeom>
          <a:noFill/>
        </p:spPr>
        <p:txBody>
          <a:bodyPr wrap="square" lIns="0" rIns="0" tIns="0" bIns="0" anchor="ctr">
            <a:spAutoFit/>
          </a:bodyPr>
          <a:lstStyle/>
          <a:p>
            <a:pPr algn="l"/>
            <a:r>
              <a:rPr b="0" sz="1400">
                <a:solidFill>
                  <a:srgbClr val="1F3A4D"/>
                </a:solidFill>
                <a:latin typeface="Calibri"/>
              </a:rPr>
              <a:t>Stacking: 3 tree models</a:t>
            </a:r>
          </a:p>
        </p:txBody>
      </p:sp>
      <p:sp>
        <p:nvSpPr>
          <p:cNvPr id="22" name="Candidate 3 AP"/>
          <p:cNvSpPr txBox="1"/>
          <p:nvPr/>
        </p:nvSpPr>
        <p:spPr>
          <a:xfrm>
            <a:off x="10689336" y="3511296"/>
            <a:ext cx="731520" cy="502920"/>
          </a:xfrm>
          <a:prstGeom prst="rect">
            <a:avLst/>
          </a:prstGeom>
          <a:noFill/>
        </p:spPr>
        <p:txBody>
          <a:bodyPr wrap="square" lIns="0" rIns="0" tIns="0" bIns="0" anchor="ctr">
            <a:spAutoFit/>
          </a:bodyPr>
          <a:lstStyle/>
          <a:p>
            <a:pPr algn="r"/>
            <a:r>
              <a:rPr b="1" sz="1400">
                <a:solidFill>
                  <a:srgbClr val="1F3A4D"/>
                </a:solidFill>
                <a:latin typeface="Calibri"/>
              </a:rPr>
              <a:t>0.756</a:t>
            </a:r>
          </a:p>
        </p:txBody>
      </p:sp>
      <p:sp>
        <p:nvSpPr>
          <p:cNvPr id="23" name="Candidate 4"/>
          <p:cNvSpPr/>
          <p:nvPr/>
        </p:nvSpPr>
        <p:spPr>
          <a:xfrm>
            <a:off x="8083296" y="4123944"/>
            <a:ext cx="3520440" cy="50292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ndidate 4 name"/>
          <p:cNvSpPr txBox="1"/>
          <p:nvPr/>
        </p:nvSpPr>
        <p:spPr>
          <a:xfrm>
            <a:off x="8266175" y="4123944"/>
            <a:ext cx="2423160" cy="502920"/>
          </a:xfrm>
          <a:prstGeom prst="rect">
            <a:avLst/>
          </a:prstGeom>
          <a:noFill/>
        </p:spPr>
        <p:txBody>
          <a:bodyPr wrap="square" lIns="0" rIns="0" tIns="0" bIns="0" anchor="ctr">
            <a:spAutoFit/>
          </a:bodyPr>
          <a:lstStyle/>
          <a:p>
            <a:pPr algn="l"/>
            <a:r>
              <a:rPr b="0" sz="1400">
                <a:solidFill>
                  <a:srgbClr val="1F3A4D"/>
                </a:solidFill>
                <a:latin typeface="Calibri"/>
              </a:rPr>
              <a:t>Tuned XGBoost (best single)</a:t>
            </a:r>
          </a:p>
        </p:txBody>
      </p:sp>
      <p:sp>
        <p:nvSpPr>
          <p:cNvPr id="25" name="Candidate 4 AP"/>
          <p:cNvSpPr txBox="1"/>
          <p:nvPr/>
        </p:nvSpPr>
        <p:spPr>
          <a:xfrm>
            <a:off x="10689336" y="4123944"/>
            <a:ext cx="731520" cy="502920"/>
          </a:xfrm>
          <a:prstGeom prst="rect">
            <a:avLst/>
          </a:prstGeom>
          <a:noFill/>
        </p:spPr>
        <p:txBody>
          <a:bodyPr wrap="square" lIns="0" rIns="0" tIns="0" bIns="0" anchor="ctr">
            <a:spAutoFit/>
          </a:bodyPr>
          <a:lstStyle/>
          <a:p>
            <a:pPr algn="r"/>
            <a:r>
              <a:rPr b="1" sz="1400">
                <a:solidFill>
                  <a:srgbClr val="1F3A4D"/>
                </a:solidFill>
                <a:latin typeface="Calibri"/>
              </a:rPr>
              <a:t>0.754</a:t>
            </a:r>
          </a:p>
        </p:txBody>
      </p:sp>
      <p:sp>
        <p:nvSpPr>
          <p:cNvPr id="26" name="Candidate 5"/>
          <p:cNvSpPr/>
          <p:nvPr/>
        </p:nvSpPr>
        <p:spPr>
          <a:xfrm>
            <a:off x="8083296" y="4736592"/>
            <a:ext cx="3520440" cy="50292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andidate 5 name"/>
          <p:cNvSpPr txBox="1"/>
          <p:nvPr/>
        </p:nvSpPr>
        <p:spPr>
          <a:xfrm>
            <a:off x="8266175" y="4736592"/>
            <a:ext cx="2423160" cy="502920"/>
          </a:xfrm>
          <a:prstGeom prst="rect">
            <a:avLst/>
          </a:prstGeom>
          <a:noFill/>
        </p:spPr>
        <p:txBody>
          <a:bodyPr wrap="square" lIns="0" rIns="0" tIns="0" bIns="0" anchor="ctr">
            <a:spAutoFit/>
          </a:bodyPr>
          <a:lstStyle/>
          <a:p>
            <a:pPr algn="l"/>
            <a:r>
              <a:rPr b="0" sz="1400">
                <a:solidFill>
                  <a:srgbClr val="1F3A4D"/>
                </a:solidFill>
                <a:latin typeface="Calibri"/>
              </a:rPr>
              <a:t>Tuned random forest</a:t>
            </a:r>
          </a:p>
        </p:txBody>
      </p:sp>
      <p:sp>
        <p:nvSpPr>
          <p:cNvPr id="28" name="Candidate 5 AP"/>
          <p:cNvSpPr txBox="1"/>
          <p:nvPr/>
        </p:nvSpPr>
        <p:spPr>
          <a:xfrm>
            <a:off x="10689336" y="4736592"/>
            <a:ext cx="731520" cy="502920"/>
          </a:xfrm>
          <a:prstGeom prst="rect">
            <a:avLst/>
          </a:prstGeom>
          <a:noFill/>
        </p:spPr>
        <p:txBody>
          <a:bodyPr wrap="square" lIns="0" rIns="0" tIns="0" bIns="0" anchor="ctr">
            <a:spAutoFit/>
          </a:bodyPr>
          <a:lstStyle/>
          <a:p>
            <a:pPr algn="r"/>
            <a:r>
              <a:rPr b="1" sz="1400">
                <a:solidFill>
                  <a:srgbClr val="1F3A4D"/>
                </a:solidFill>
                <a:latin typeface="Calibri"/>
              </a:rPr>
              <a:t>0.754</a:t>
            </a:r>
          </a:p>
        </p:txBody>
      </p:sp>
      <p:sp>
        <p:nvSpPr>
          <p:cNvPr id="29" name="Step 3 note"/>
          <p:cNvSpPr txBox="1"/>
          <p:nvPr/>
        </p:nvSpPr>
        <p:spPr>
          <a:xfrm>
            <a:off x="8083296" y="5349240"/>
            <a:ext cx="3520440" cy="548640"/>
          </a:xfrm>
          <a:prstGeom prst="rect">
            <a:avLst/>
          </a:prstGeom>
          <a:noFill/>
        </p:spPr>
        <p:txBody>
          <a:bodyPr wrap="square" lIns="0" rIns="0" tIns="0" bIns="0" anchor="t">
            <a:spAutoFit/>
          </a:bodyPr>
          <a:lstStyle/>
          <a:p>
            <a:pPr algn="l"/>
            <a:r>
              <a:rPr b="0" sz="1200">
                <a:solidFill>
                  <a:srgbClr val="5F6B75"/>
                </a:solidFill>
                <a:latin typeface="Calibri"/>
              </a:rPr>
              <a:t>Mean AP on 15 fresh folds</a:t>
            </a:r>
          </a:p>
          <a:p>
            <a:pPr algn="l"/>
            <a:r>
              <a:rPr b="0" sz="1200">
                <a:solidFill>
                  <a:srgbClr val="5F6B75"/>
                </a:solidFill>
                <a:latin typeface="Calibri"/>
              </a:rPr>
              <a:t>Ensemble adds only +0.003 over the best single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640080"/>
          </a:xfrm>
          <a:prstGeom prst="rect">
            <a:avLst/>
          </a:prstGeom>
          <a:noFill/>
        </p:spPr>
        <p:txBody>
          <a:bodyPr wrap="square" lIns="0" rIns="0" tIns="0" bIns="0" anchor="t">
            <a:spAutoFit/>
          </a:bodyPr>
          <a:lstStyle/>
          <a:p>
            <a:pPr algn="l"/>
            <a:r>
              <a:rPr b="1" sz="3200">
                <a:solidFill>
                  <a:srgbClr val="1F3A4D"/>
                </a:solidFill>
                <a:latin typeface="Calibri"/>
              </a:rPr>
              <a:t>Final Model: Test AP 0.763</a:t>
            </a:r>
          </a:p>
        </p:txBody>
      </p:sp>
      <p:sp>
        <p:nvSpPr>
          <p:cNvPr id="3" name="Subtitle"/>
          <p:cNvSpPr txBox="1"/>
          <p:nvPr/>
        </p:nvSpPr>
        <p:spPr>
          <a:xfrm>
            <a:off x="548640" y="1005840"/>
            <a:ext cx="11064240" cy="365760"/>
          </a:xfrm>
          <a:prstGeom prst="rect">
            <a:avLst/>
          </a:prstGeom>
          <a:noFill/>
        </p:spPr>
        <p:txBody>
          <a:bodyPr wrap="square" lIns="0" rIns="0" tIns="0" bIns="0" anchor="t">
            <a:spAutoFit/>
          </a:bodyPr>
          <a:lstStyle/>
          <a:p>
            <a:pPr algn="l"/>
            <a:r>
              <a:rPr b="0" sz="1500">
                <a:solidFill>
                  <a:srgbClr val="5F6B75"/>
                </a:solidFill>
                <a:latin typeface="Calibri"/>
              </a:rPr>
              <a:t>Stacking ensemble of RF + XGBoost + KNN + LightGBM, refit on all training data; test set read once</a:t>
            </a:r>
          </a:p>
        </p:txBody>
      </p:sp>
      <p:sp>
        <p:nvSpPr>
          <p:cNvPr id="4" name="Chart title"/>
          <p:cNvSpPr txBox="1"/>
          <p:nvPr/>
        </p:nvSpPr>
        <p:spPr>
          <a:xfrm>
            <a:off x="548640" y="1691640"/>
            <a:ext cx="5852160" cy="411480"/>
          </a:xfrm>
          <a:prstGeom prst="rect">
            <a:avLst/>
          </a:prstGeom>
          <a:noFill/>
        </p:spPr>
        <p:txBody>
          <a:bodyPr wrap="square" lIns="0" rIns="0" tIns="0" bIns="0" anchor="t">
            <a:spAutoFit/>
          </a:bodyPr>
          <a:lstStyle/>
          <a:p>
            <a:pPr algn="l"/>
            <a:r>
              <a:rPr b="1" sz="1800">
                <a:solidFill>
                  <a:srgbClr val="1F3A4D"/>
                </a:solidFill>
                <a:latin typeface="Calibri"/>
              </a:rPr>
              <a:t>Average precision on the test set</a:t>
            </a:r>
          </a:p>
        </p:txBody>
      </p:sp>
      <p:graphicFrame>
        <p:nvGraphicFramePr>
          <p:cNvPr id="5" name="Test AP chart"/>
          <p:cNvGraphicFramePr>
            <a:graphicFrameLocks noGrp="1"/>
          </p:cNvGraphicFramePr>
          <p:nvPr/>
        </p:nvGraphicFramePr>
        <p:xfrm>
          <a:off x="548640" y="2148840"/>
          <a:ext cx="5852160" cy="2651760"/>
        </p:xfrm>
        <a:graphic>
          <a:graphicData uri="http://schemas.openxmlformats.org/drawingml/2006/chart">
            <c:chart xmlns:c="http://schemas.openxmlformats.org/drawingml/2006/chart" r:id="rId2"/>
          </a:graphicData>
        </a:graphic>
      </p:graphicFrame>
      <p:sp>
        <p:nvSpPr>
          <p:cNvPr id="6" name="Chart note"/>
          <p:cNvSpPr txBox="1"/>
          <p:nvPr/>
        </p:nvSpPr>
        <p:spPr>
          <a:xfrm>
            <a:off x="548640" y="4892040"/>
            <a:ext cx="5852160" cy="320040"/>
          </a:xfrm>
          <a:prstGeom prst="rect">
            <a:avLst/>
          </a:prstGeom>
          <a:noFill/>
        </p:spPr>
        <p:txBody>
          <a:bodyPr wrap="square" lIns="0" rIns="0" tIns="0" bIns="0" anchor="t">
            <a:spAutoFit/>
          </a:bodyPr>
          <a:lstStyle/>
          <a:p>
            <a:pPr algn="l"/>
            <a:r>
              <a:rPr b="0" sz="1200">
                <a:solidFill>
                  <a:srgbClr val="5F6B75"/>
                </a:solidFill>
                <a:latin typeface="Calibri"/>
              </a:rPr>
              <a:t>95% CI 0.72–0.80  ·  CV estimate 0.757  ·  ROC-AUC 0.938</a:t>
            </a:r>
          </a:p>
        </p:txBody>
      </p:sp>
      <p:sp>
        <p:nvSpPr>
          <p:cNvPr id="7" name="Stat card 1"/>
          <p:cNvSpPr/>
          <p:nvPr/>
        </p:nvSpPr>
        <p:spPr>
          <a:xfrm>
            <a:off x="6949440" y="1691640"/>
            <a:ext cx="4690872" cy="96012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at 1 value"/>
          <p:cNvSpPr txBox="1"/>
          <p:nvPr/>
        </p:nvSpPr>
        <p:spPr>
          <a:xfrm>
            <a:off x="7223759" y="1691640"/>
            <a:ext cx="1371600" cy="960120"/>
          </a:xfrm>
          <a:prstGeom prst="rect">
            <a:avLst/>
          </a:prstGeom>
          <a:noFill/>
        </p:spPr>
        <p:txBody>
          <a:bodyPr wrap="square" lIns="0" rIns="0" tIns="0" bIns="0" anchor="ctr">
            <a:spAutoFit/>
          </a:bodyPr>
          <a:lstStyle/>
          <a:p>
            <a:pPr algn="l"/>
            <a:r>
              <a:rPr b="1" sz="3200">
                <a:solidFill>
                  <a:srgbClr val="1F3A4D"/>
                </a:solidFill>
                <a:latin typeface="Calibri"/>
              </a:rPr>
              <a:t>70%</a:t>
            </a:r>
          </a:p>
        </p:txBody>
      </p:sp>
      <p:sp>
        <p:nvSpPr>
          <p:cNvPr id="9" name="Stat 1 label"/>
          <p:cNvSpPr txBox="1"/>
          <p:nvPr/>
        </p:nvSpPr>
        <p:spPr>
          <a:xfrm>
            <a:off x="8641080" y="1691640"/>
            <a:ext cx="2816352" cy="960120"/>
          </a:xfrm>
          <a:prstGeom prst="rect">
            <a:avLst/>
          </a:prstGeom>
          <a:noFill/>
        </p:spPr>
        <p:txBody>
          <a:bodyPr wrap="square" lIns="0" rIns="0" tIns="0" bIns="0" anchor="ctr">
            <a:spAutoFit/>
          </a:bodyPr>
          <a:lstStyle/>
          <a:p>
            <a:pPr algn="l"/>
            <a:r>
              <a:rPr b="1" sz="1500">
                <a:solidFill>
                  <a:srgbClr val="1F3A4D"/>
                </a:solidFill>
                <a:latin typeface="Calibri"/>
              </a:rPr>
              <a:t>of buyers found</a:t>
            </a:r>
          </a:p>
          <a:p>
            <a:pPr algn="l"/>
            <a:r>
              <a:rPr b="0" sz="1200">
                <a:solidFill>
                  <a:srgbClr val="5F6B75"/>
                </a:solidFill>
                <a:latin typeface="Calibri"/>
              </a:rPr>
              <a:t>269 of 382 buyers in the test set</a:t>
            </a:r>
          </a:p>
        </p:txBody>
      </p:sp>
      <p:sp>
        <p:nvSpPr>
          <p:cNvPr id="10" name="Stat card 2"/>
          <p:cNvSpPr/>
          <p:nvPr/>
        </p:nvSpPr>
        <p:spPr>
          <a:xfrm>
            <a:off x="6949440" y="2834640"/>
            <a:ext cx="4690872" cy="96012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 2 value"/>
          <p:cNvSpPr txBox="1"/>
          <p:nvPr/>
        </p:nvSpPr>
        <p:spPr>
          <a:xfrm>
            <a:off x="7223759" y="2834640"/>
            <a:ext cx="1371600" cy="960120"/>
          </a:xfrm>
          <a:prstGeom prst="rect">
            <a:avLst/>
          </a:prstGeom>
          <a:noFill/>
        </p:spPr>
        <p:txBody>
          <a:bodyPr wrap="square" lIns="0" rIns="0" tIns="0" bIns="0" anchor="ctr">
            <a:spAutoFit/>
          </a:bodyPr>
          <a:lstStyle/>
          <a:p>
            <a:pPr algn="l"/>
            <a:r>
              <a:rPr b="1" sz="3200">
                <a:solidFill>
                  <a:srgbClr val="1F3A4D"/>
                </a:solidFill>
                <a:latin typeface="Calibri"/>
              </a:rPr>
              <a:t>69%</a:t>
            </a:r>
          </a:p>
        </p:txBody>
      </p:sp>
      <p:sp>
        <p:nvSpPr>
          <p:cNvPr id="12" name="Stat 2 label"/>
          <p:cNvSpPr txBox="1"/>
          <p:nvPr/>
        </p:nvSpPr>
        <p:spPr>
          <a:xfrm>
            <a:off x="8641080" y="2834640"/>
            <a:ext cx="2816352" cy="960120"/>
          </a:xfrm>
          <a:prstGeom prst="rect">
            <a:avLst/>
          </a:prstGeom>
          <a:noFill/>
        </p:spPr>
        <p:txBody>
          <a:bodyPr wrap="square" lIns="0" rIns="0" tIns="0" bIns="0" anchor="ctr">
            <a:spAutoFit/>
          </a:bodyPr>
          <a:lstStyle/>
          <a:p>
            <a:pPr algn="l"/>
            <a:r>
              <a:rPr b="1" sz="1500">
                <a:solidFill>
                  <a:srgbClr val="1F3A4D"/>
                </a:solidFill>
                <a:latin typeface="Calibri"/>
              </a:rPr>
              <a:t>precision</a:t>
            </a:r>
          </a:p>
          <a:p>
            <a:pPr algn="l"/>
            <a:r>
              <a:rPr b="0" sz="1200">
                <a:solidFill>
                  <a:srgbClr val="5F6B75"/>
                </a:solidFill>
                <a:latin typeface="Calibri"/>
              </a:rPr>
              <a:t>of flagged sessions actually buy</a:t>
            </a:r>
          </a:p>
        </p:txBody>
      </p:sp>
      <p:sp>
        <p:nvSpPr>
          <p:cNvPr id="13" name="Stat card 3"/>
          <p:cNvSpPr/>
          <p:nvPr/>
        </p:nvSpPr>
        <p:spPr>
          <a:xfrm>
            <a:off x="6949440" y="3977639"/>
            <a:ext cx="4690872" cy="96012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 3 value"/>
          <p:cNvSpPr txBox="1"/>
          <p:nvPr/>
        </p:nvSpPr>
        <p:spPr>
          <a:xfrm>
            <a:off x="7223759" y="3977639"/>
            <a:ext cx="1371600" cy="960120"/>
          </a:xfrm>
          <a:prstGeom prst="rect">
            <a:avLst/>
          </a:prstGeom>
          <a:noFill/>
        </p:spPr>
        <p:txBody>
          <a:bodyPr wrap="square" lIns="0" rIns="0" tIns="0" bIns="0" anchor="ctr">
            <a:spAutoFit/>
          </a:bodyPr>
          <a:lstStyle/>
          <a:p>
            <a:pPr algn="l"/>
            <a:r>
              <a:rPr b="1" sz="3200">
                <a:solidFill>
                  <a:srgbClr val="1F3A4D"/>
                </a:solidFill>
                <a:latin typeface="Calibri"/>
              </a:rPr>
              <a:t>123</a:t>
            </a:r>
          </a:p>
        </p:txBody>
      </p:sp>
      <p:sp>
        <p:nvSpPr>
          <p:cNvPr id="15" name="Stat 3 label"/>
          <p:cNvSpPr txBox="1"/>
          <p:nvPr/>
        </p:nvSpPr>
        <p:spPr>
          <a:xfrm>
            <a:off x="8641080" y="3977639"/>
            <a:ext cx="2816352" cy="960120"/>
          </a:xfrm>
          <a:prstGeom prst="rect">
            <a:avLst/>
          </a:prstGeom>
          <a:noFill/>
        </p:spPr>
        <p:txBody>
          <a:bodyPr wrap="square" lIns="0" rIns="0" tIns="0" bIns="0" anchor="ctr">
            <a:spAutoFit/>
          </a:bodyPr>
          <a:lstStyle/>
          <a:p>
            <a:pPr algn="l"/>
            <a:r>
              <a:rPr b="1" sz="1500">
                <a:solidFill>
                  <a:srgbClr val="1F3A4D"/>
                </a:solidFill>
                <a:latin typeface="Calibri"/>
              </a:rPr>
              <a:t>false alarms</a:t>
            </a:r>
          </a:p>
          <a:p>
            <a:pPr algn="l"/>
            <a:r>
              <a:rPr b="0" sz="1200">
                <a:solidFill>
                  <a:srgbClr val="5F6B75"/>
                </a:solidFill>
                <a:latin typeface="Calibri"/>
              </a:rPr>
              <a:t>vs. 233 for the PageValues rule (−47%)</a:t>
            </a:r>
          </a:p>
        </p:txBody>
      </p:sp>
      <p:sp>
        <p:nvSpPr>
          <p:cNvPr id="16" name="Threshold note"/>
          <p:cNvSpPr txBox="1"/>
          <p:nvPr/>
        </p:nvSpPr>
        <p:spPr>
          <a:xfrm>
            <a:off x="6949440" y="5074920"/>
            <a:ext cx="4690872" cy="320040"/>
          </a:xfrm>
          <a:prstGeom prst="rect">
            <a:avLst/>
          </a:prstGeom>
          <a:noFill/>
        </p:spPr>
        <p:txBody>
          <a:bodyPr wrap="square" lIns="0" rIns="0" tIns="0" bIns="0" anchor="t">
            <a:spAutoFit/>
          </a:bodyPr>
          <a:lstStyle/>
          <a:p>
            <a:pPr algn="l"/>
            <a:r>
              <a:rPr b="0" sz="1200">
                <a:solidFill>
                  <a:srgbClr val="5F6B75"/>
                </a:solidFill>
                <a:latin typeface="Calibri"/>
              </a:rPr>
              <a:t>At threshold 0.36, chosen on training data (max F1)</a:t>
            </a:r>
          </a:p>
        </p:txBody>
      </p:sp>
      <p:sp>
        <p:nvSpPr>
          <p:cNvPr id="17" name="Takeaway 1 marker"/>
          <p:cNvSpPr/>
          <p:nvPr/>
        </p:nvSpPr>
        <p:spPr>
          <a:xfrm>
            <a:off x="548640" y="5779008"/>
            <a:ext cx="347472" cy="347472"/>
          </a:xfrm>
          <a:prstGeom prst="ellipse">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18" name="Takeaway 1"/>
          <p:cNvSpPr txBox="1"/>
          <p:nvPr/>
        </p:nvSpPr>
        <p:spPr>
          <a:xfrm>
            <a:off x="1024128" y="5687568"/>
            <a:ext cx="3090672" cy="685800"/>
          </a:xfrm>
          <a:prstGeom prst="rect">
            <a:avLst/>
          </a:prstGeom>
          <a:noFill/>
        </p:spPr>
        <p:txBody>
          <a:bodyPr wrap="square" lIns="0" rIns="0" tIns="0" bIns="0" anchor="t">
            <a:spAutoFit/>
          </a:bodyPr>
          <a:lstStyle/>
          <a:p>
            <a:pPr algn="l"/>
            <a:r>
              <a:rPr b="1" sz="1500">
                <a:solidFill>
                  <a:srgbClr val="1F3A4D"/>
                </a:solidFill>
                <a:latin typeface="Calibri"/>
              </a:rPr>
              <a:t>CV estimate held up</a:t>
            </a:r>
          </a:p>
          <a:p>
            <a:pPr algn="l"/>
            <a:r>
              <a:rPr b="0" sz="1200">
                <a:solidFill>
                  <a:srgbClr val="5F6B75"/>
                </a:solidFill>
                <a:latin typeface="Calibri"/>
              </a:rPr>
              <a:t>test 0.763 vs. CV 0.757</a:t>
            </a:r>
          </a:p>
        </p:txBody>
      </p:sp>
      <p:sp>
        <p:nvSpPr>
          <p:cNvPr id="19" name="Takeaway 2 marker"/>
          <p:cNvSpPr/>
          <p:nvPr/>
        </p:nvSpPr>
        <p:spPr>
          <a:xfrm>
            <a:off x="4297679" y="5779008"/>
            <a:ext cx="347472" cy="347472"/>
          </a:xfrm>
          <a:prstGeom prst="ellipse">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20" name="Takeaway 2"/>
          <p:cNvSpPr txBox="1"/>
          <p:nvPr/>
        </p:nvSpPr>
        <p:spPr>
          <a:xfrm>
            <a:off x="4773167" y="5687568"/>
            <a:ext cx="3090672" cy="685800"/>
          </a:xfrm>
          <a:prstGeom prst="rect">
            <a:avLst/>
          </a:prstGeom>
          <a:noFill/>
        </p:spPr>
        <p:txBody>
          <a:bodyPr wrap="square" lIns="0" rIns="0" tIns="0" bIns="0" anchor="t">
            <a:spAutoFit/>
          </a:bodyPr>
          <a:lstStyle/>
          <a:p>
            <a:pPr algn="l"/>
            <a:r>
              <a:rPr b="1" sz="1500">
                <a:solidFill>
                  <a:srgbClr val="1F3A4D"/>
                </a:solidFill>
                <a:latin typeface="Calibri"/>
              </a:rPr>
              <a:t>Beats the simple rule</a:t>
            </a:r>
          </a:p>
          <a:p>
            <a:pPr algn="l"/>
            <a:r>
              <a:rPr b="0" sz="1200">
                <a:solidFill>
                  <a:srgbClr val="5F6B75"/>
                </a:solidFill>
                <a:latin typeface="Calibri"/>
              </a:rPr>
              <a:t>+0.14 AP over ranking by PageValues</a:t>
            </a:r>
          </a:p>
        </p:txBody>
      </p:sp>
      <p:sp>
        <p:nvSpPr>
          <p:cNvPr id="21" name="Takeaway 3 marker"/>
          <p:cNvSpPr/>
          <p:nvPr/>
        </p:nvSpPr>
        <p:spPr>
          <a:xfrm>
            <a:off x="8046719" y="5779008"/>
            <a:ext cx="347472" cy="347472"/>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22" name="Takeaway 3"/>
          <p:cNvSpPr txBox="1"/>
          <p:nvPr/>
        </p:nvSpPr>
        <p:spPr>
          <a:xfrm>
            <a:off x="8522207" y="5687568"/>
            <a:ext cx="3090672" cy="685800"/>
          </a:xfrm>
          <a:prstGeom prst="rect">
            <a:avLst/>
          </a:prstGeom>
          <a:noFill/>
        </p:spPr>
        <p:txBody>
          <a:bodyPr wrap="square" lIns="0" rIns="0" tIns="0" bIns="0" anchor="t">
            <a:spAutoFit/>
          </a:bodyPr>
          <a:lstStyle/>
          <a:p>
            <a:pPr algn="l"/>
            <a:r>
              <a:rPr b="1" sz="1500">
                <a:solidFill>
                  <a:srgbClr val="1F3A4D"/>
                </a:solidFill>
                <a:latin typeface="Calibri"/>
              </a:rPr>
              <a:t>Main risk: PageValues</a:t>
            </a:r>
          </a:p>
          <a:p>
            <a:pPr algn="l"/>
            <a:r>
              <a:rPr b="0" sz="1200">
                <a:solidFill>
                  <a:srgbClr val="5F6B75"/>
                </a:solidFill>
                <a:latin typeface="Calibri"/>
              </a:rPr>
              <a:t>AP drops to 0.38 without it; may leak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